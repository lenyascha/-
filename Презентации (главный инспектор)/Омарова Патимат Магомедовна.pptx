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image" Target="../media/image-1-6.png"/><Relationship Id="rId7" Type="http://schemas.openxmlformats.org/officeDocument/2006/relationships/image" Target="../media/image-1-7.png"/><Relationship Id="rId8" Type="http://schemas.openxmlformats.org/officeDocument/2006/relationships/image" Target="../media/image-1-8.png"/><Relationship Id="rId9" Type="http://schemas.openxmlformats.org/officeDocument/2006/relationships/image" Target="../media/image-1-9.png"/><Relationship Id="rId10" Type="http://schemas.openxmlformats.org/officeDocument/2006/relationships/image" Target="../media/image-1-10.png"/><Relationship Id="rId11" Type="http://schemas.openxmlformats.org/officeDocument/2006/relationships/image" Target="../media/image-1-11.png"/><Relationship Id="rId12" Type="http://schemas.openxmlformats.org/officeDocument/2006/relationships/image" Target="../media/image-1-12.png"/><Relationship Id="rId13" Type="http://schemas.openxmlformats.org/officeDocument/2006/relationships/image" Target="../media/image-1-13.png"/><Relationship Id="rId14" Type="http://schemas.openxmlformats.org/officeDocument/2006/relationships/slideLayout" Target="../slideLayouts/slideLayout1.xml"/><Relationship Id="rId1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Фон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Image 1" descr="Федеральная налоговая служба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320040"/>
            <a:ext cx="777240" cy="809244"/>
          </a:xfrm>
          <a:prstGeom prst="rect">
            <a:avLst/>
          </a:prstGeom>
        </p:spPr>
      </p:pic>
      <p:sp>
        <p:nvSpPr>
          <p:cNvPr id="4" name="Text 0"/>
          <p:cNvSpPr txBox="1"/>
          <p:nvPr/>
        </p:nvSpPr>
        <p:spPr>
          <a:xfrm>
            <a:off x="1463040" y="128016"/>
            <a:ext cx="9509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Открыты вакансии экспертного уровня в команде МИУДОЛ</a:t>
            </a:r>
            <a:endParaRPr lang="en-US" sz="2700" dirty="0"/>
          </a:p>
        </p:txBody>
      </p:sp>
      <p:sp>
        <p:nvSpPr>
          <p:cNvPr id="301" name="Candidate frame"/>
          <p:cNvSpPr/>
          <p:nvPr/>
        </p:nvSpPr>
        <p:spPr>
          <a:xfrm>
            <a:off x="1463040" y="667512"/>
            <a:ext cx="3383280" cy="292608"/>
          </a:xfrm>
          <a:prstGeom prst="roundRect">
            <a:avLst>
              <a:gd name="adj" fmla="val 50000"/>
            </a:avLst>
          </a:prstGeom>
          <a:solidFill>
            <a:srgbClr val="1B3C86"/>
          </a:solidFill>
          <a:ln w="19050">
            <a:solidFill>
              <a:srgbClr val="1F9AD6"/>
            </a:solidFill>
            <a:prstDash val="solid"/>
          </a:ln>
        </p:spPr>
        <p:txBody>
          <a:bodyPr wrap="square" lIns="91440" tIns="0" rIns="91440" bIns="0" rtlCol="0" anchor="ctr"/>
          <a:lstStyle/>
          <a:p>
            <a:pPr algn="ctr" indent="0" marL="0">
              <a:buNone/>
            </a:pPr>
            <a:r>
              <a:rPr lang="ru-RU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Уважаемая Патимат Магомедовна</a:t>
            </a:r>
          </a:p>
        </p:txBody>
      </p:sp>
      <p:sp>
        <p:nvSpPr>
          <p:cNvPr id="5" name="Text 1"/>
          <p:cNvSpPr txBox="1"/>
          <p:nvPr/>
        </p:nvSpPr>
        <p:spPr>
          <a:xfrm>
            <a:off x="1463040" y="978408"/>
            <a:ext cx="9509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Станьте частью команды по работе с производным долгом</a:t>
            </a:r>
            <a:endParaRPr lang="en-US" sz="1700" dirty="0"/>
          </a:p>
        </p:txBody>
      </p:sp>
      <p:pic>
        <p:nvPicPr>
          <p:cNvPr id="6" name="Image 2" descr="МИУДОЛ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64240" y="301752"/>
            <a:ext cx="474025" cy="585216"/>
          </a:xfrm>
          <a:prstGeom prst="rect">
            <a:avLst/>
          </a:prstGeom>
        </p:spPr>
      </p:pic>
      <p:sp>
        <p:nvSpPr>
          <p:cNvPr id="7" name="Shape 2"/>
          <p:cNvSpPr/>
          <p:nvPr/>
        </p:nvSpPr>
        <p:spPr>
          <a:xfrm>
            <a:off x="411480" y="1417320"/>
            <a:ext cx="3611880" cy="3200400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8" name="Text 3"/>
          <p:cNvSpPr txBox="1"/>
          <p:nvPr/>
        </p:nvSpPr>
        <p:spPr>
          <a:xfrm>
            <a:off x="594360" y="1527048"/>
            <a:ext cx="3246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Какие задачи предстоит решать ?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594360" y="205740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0" name="Text 5"/>
          <p:cNvSpPr txBox="1"/>
          <p:nvPr/>
        </p:nvSpPr>
        <p:spPr>
          <a:xfrm>
            <a:off x="594360" y="20574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1" name="Text 6"/>
          <p:cNvSpPr txBox="1"/>
          <p:nvPr/>
        </p:nvSpPr>
        <p:spPr>
          <a:xfrm>
            <a:off x="1033272" y="198424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Ведение крупнейших должников с целью взыскания производного долга</a:t>
            </a:r>
            <a:endParaRPr lang="en-US" sz="1100" dirty="0"/>
          </a:p>
        </p:txBody>
      </p:sp>
      <p:sp>
        <p:nvSpPr>
          <p:cNvPr id="12" name="Shape 7"/>
          <p:cNvSpPr/>
          <p:nvPr/>
        </p:nvSpPr>
        <p:spPr>
          <a:xfrm>
            <a:off x="594360" y="269748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3" name="Text 8"/>
          <p:cNvSpPr txBox="1"/>
          <p:nvPr/>
        </p:nvSpPr>
        <p:spPr>
          <a:xfrm>
            <a:off x="594360" y="269748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4" name="Text 9"/>
          <p:cNvSpPr txBox="1"/>
          <p:nvPr/>
        </p:nvSpPr>
        <p:spPr>
          <a:xfrm>
            <a:off x="1033272" y="262432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 проектах ФНС России по направлению взыскания производного долга</a:t>
            </a:r>
            <a:endParaRPr lang="en-US" sz="1100" dirty="0"/>
          </a:p>
        </p:txBody>
      </p:sp>
      <p:sp>
        <p:nvSpPr>
          <p:cNvPr id="15" name="Shape 10"/>
          <p:cNvSpPr/>
          <p:nvPr/>
        </p:nvSpPr>
        <p:spPr>
          <a:xfrm>
            <a:off x="594360" y="333756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6" name="Text 11"/>
          <p:cNvSpPr txBox="1"/>
          <p:nvPr/>
        </p:nvSpPr>
        <p:spPr>
          <a:xfrm>
            <a:off x="594360" y="33375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7" name="Text 12"/>
          <p:cNvSpPr txBox="1"/>
          <p:nvPr/>
        </p:nvSpPr>
        <p:spPr>
          <a:xfrm>
            <a:off x="1033272" y="326440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Участие во внедрении веб-сервисов для автоматизации взыскания производного долга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594360" y="3977640"/>
            <a:ext cx="292608" cy="292608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19" name="Text 14"/>
          <p:cNvSpPr txBox="1"/>
          <p:nvPr/>
        </p:nvSpPr>
        <p:spPr>
          <a:xfrm>
            <a:off x="594360" y="39776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20" name="Text 15"/>
          <p:cNvSpPr txBox="1"/>
          <p:nvPr/>
        </p:nvSpPr>
        <p:spPr>
          <a:xfrm>
            <a:off x="1033272" y="3904488"/>
            <a:ext cx="2834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Контроль за деятельностью ЦК ВПД</a:t>
            </a:r>
            <a:endParaRPr lang="en-US" sz="1100" dirty="0"/>
          </a:p>
        </p:txBody>
      </p:sp>
      <p:sp>
        <p:nvSpPr>
          <p:cNvPr id="21" name="Shape 16"/>
          <p:cNvSpPr/>
          <p:nvPr/>
        </p:nvSpPr>
        <p:spPr>
          <a:xfrm>
            <a:off x="411480" y="4754880"/>
            <a:ext cx="3611880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2" name="Shape 17"/>
          <p:cNvSpPr/>
          <p:nvPr/>
        </p:nvSpPr>
        <p:spPr>
          <a:xfrm>
            <a:off x="594360" y="5052060"/>
            <a:ext cx="457200" cy="45720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" y="5170932"/>
            <a:ext cx="219456" cy="219456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1234440" y="4910328"/>
            <a:ext cx="2606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По вопросам обращаться:</a:t>
            </a:r>
            <a:endParaRPr lang="en-US" sz="1000" dirty="0"/>
          </a:p>
        </p:txBody>
      </p:sp>
      <p:sp>
        <p:nvSpPr>
          <p:cNvPr id="25" name="Text 19"/>
          <p:cNvSpPr txBox="1"/>
          <p:nvPr/>
        </p:nvSpPr>
        <p:spPr>
          <a:xfrm>
            <a:off x="1234440" y="5120640"/>
            <a:ext cx="2606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Башкирова Екатерина Сергеевна</a:t>
            </a:r>
            <a:endParaRPr lang="en-US" sz="1350" dirty="0"/>
          </a:p>
        </p:txBody>
      </p:sp>
      <p:sp>
        <p:nvSpPr>
          <p:cNvPr id="26" name="Text 20"/>
          <p:cNvSpPr txBox="1"/>
          <p:nvPr/>
        </p:nvSpPr>
        <p:spPr>
          <a:xfrm>
            <a:off x="1234440" y="5394960"/>
            <a:ext cx="2606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ВТС: 8 (80) 42-84</a:t>
            </a:r>
            <a:endParaRPr lang="en-US" sz="1150" dirty="0"/>
          </a:p>
        </p:txBody>
      </p:sp>
      <p:sp>
        <p:nvSpPr>
          <p:cNvPr id="27" name="Shape 21"/>
          <p:cNvSpPr/>
          <p:nvPr/>
        </p:nvSpPr>
        <p:spPr>
          <a:xfrm>
            <a:off x="4251960" y="1417320"/>
            <a:ext cx="3703320" cy="4389120"/>
          </a:xfrm>
          <a:prstGeom prst="roundRect">
            <a:avLst>
              <a:gd name="adj" fmla="val 395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28" name="Text 22"/>
          <p:cNvSpPr txBox="1"/>
          <p:nvPr/>
        </p:nvSpPr>
        <p:spPr>
          <a:xfrm>
            <a:off x="4434840" y="1527048"/>
            <a:ext cx="27432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Ваш карьерный трек в МИУДОЛ</a:t>
            </a:r>
            <a:endParaRPr lang="en-US" sz="1500" dirty="0"/>
          </a:p>
        </p:txBody>
      </p:sp>
      <p:sp>
        <p:nvSpPr>
          <p:cNvPr id="29" name="Shape 23"/>
          <p:cNvSpPr/>
          <p:nvPr/>
        </p:nvSpPr>
        <p:spPr>
          <a:xfrm>
            <a:off x="7406640" y="149961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3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501738" y="1594714"/>
            <a:ext cx="175565" cy="175565"/>
          </a:xfrm>
          <a:prstGeom prst="rect">
            <a:avLst/>
          </a:prstGeom>
        </p:spPr>
      </p:pic>
      <p:sp>
        <p:nvSpPr>
          <p:cNvPr id="31" name="Shape 24"/>
          <p:cNvSpPr/>
          <p:nvPr/>
        </p:nvSpPr>
        <p:spPr>
          <a:xfrm>
            <a:off x="5326380" y="3291840"/>
            <a:ext cx="1554480" cy="1143000"/>
          </a:xfrm>
          <a:custGeom>
            <a:avLst/>
            <a:gdLst/>
            <a:ahLst/>
            <a:cxnLst/>
            <a:rect l="l" t="t" r="r" b="b"/>
            <a:pathLst>
              <a:path w="1554480" h="1143000">
                <a:moveTo>
                  <a:pt x="312990" y="1107160"/>
                </a:moveTo>
                <a:lnTo>
                  <a:pt x="890231" y="623165"/>
                </a:lnTo>
                <a:lnTo>
                  <a:pt x="523233" y="542884"/>
                </a:lnTo>
                <a:lnTo>
                  <a:pt x="1007976" y="170671"/>
                </a:lnTo>
                <a:lnTo>
                  <a:pt x="958969" y="106849"/>
                </a:lnTo>
                <a:lnTo>
                  <a:pt x="1188720" y="45720"/>
                </a:lnTo>
                <a:lnTo>
                  <a:pt x="1070348" y="251900"/>
                </a:lnTo>
                <a:lnTo>
                  <a:pt x="1021341" y="188078"/>
                </a:lnTo>
                <a:lnTo>
                  <a:pt x="574047" y="531536"/>
                </a:lnTo>
                <a:lnTo>
                  <a:pt x="938569" y="611275"/>
                </a:lnTo>
                <a:lnTo>
                  <a:pt x="327090" y="1123976"/>
                </a:lnTo>
                <a:close/>
              </a:path>
            </a:pathLst>
          </a:custGeom>
          <a:solidFill>
            <a:srgbClr val="1F9AD6"/>
          </a:solidFill>
          <a:ln w="12700">
            <a:solidFill>
              <a:srgbClr val="1F9AD6"/>
            </a:solidFill>
            <a:prstDash val="solid"/>
          </a:ln>
        </p:spPr>
      </p:sp>
      <p:sp>
        <p:nvSpPr>
          <p:cNvPr id="32" name="Shape 25"/>
          <p:cNvSpPr/>
          <p:nvPr/>
        </p:nvSpPr>
        <p:spPr>
          <a:xfrm>
            <a:off x="4434840" y="443484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B3C86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33" name="Shape 26"/>
          <p:cNvSpPr/>
          <p:nvPr/>
        </p:nvSpPr>
        <p:spPr>
          <a:xfrm>
            <a:off x="4599432" y="459943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4599432" y="459943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35" name="Text 28"/>
          <p:cNvSpPr txBox="1"/>
          <p:nvPr/>
        </p:nvSpPr>
        <p:spPr>
          <a:xfrm>
            <a:off x="4599432" y="4965192"/>
            <a:ext cx="195681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Главный государственный налоговый инспектор</a:t>
            </a:r>
            <a:endParaRPr lang="en-US" sz="1200" dirty="0"/>
          </a:p>
        </p:txBody>
      </p:sp>
      <p:sp>
        <p:nvSpPr>
          <p:cNvPr id="36" name="Shape 29"/>
          <p:cNvSpPr/>
          <p:nvPr/>
        </p:nvSpPr>
        <p:spPr>
          <a:xfrm>
            <a:off x="5486400" y="2194560"/>
            <a:ext cx="2286000" cy="1097280"/>
          </a:xfrm>
          <a:prstGeom prst="roundRect">
            <a:avLst>
              <a:gd name="adj" fmla="val 11667"/>
            </a:avLst>
          </a:prstGeom>
          <a:solidFill>
            <a:srgbClr val="1F9AD6"/>
          </a:solidFill>
          <a:ln w="9525">
            <a:solidFill>
              <a:srgbClr val="1F9AD6"/>
            </a:solidFill>
            <a:prstDash val="solid"/>
          </a:ln>
        </p:spPr>
      </p:sp>
      <p:sp>
        <p:nvSpPr>
          <p:cNvPr id="37" name="Shape 30"/>
          <p:cNvSpPr/>
          <p:nvPr/>
        </p:nvSpPr>
        <p:spPr>
          <a:xfrm>
            <a:off x="5650992" y="2359152"/>
            <a:ext cx="310896" cy="310896"/>
          </a:xfrm>
          <a:prstGeom prst="ellipse">
            <a:avLst/>
          </a:prstGeom>
          <a:solidFill>
            <a:srgbClr val="0A1B45"/>
          </a:solidFill>
          <a:ln w="12700">
            <a:solidFill>
              <a:srgbClr val="0A1B45"/>
            </a:solidFill>
            <a:prstDash val="solid"/>
          </a:ln>
        </p:spPr>
      </p:sp>
      <p:sp>
        <p:nvSpPr>
          <p:cNvPr id="38" name="Text 31"/>
          <p:cNvSpPr txBox="1"/>
          <p:nvPr/>
        </p:nvSpPr>
        <p:spPr>
          <a:xfrm>
            <a:off x="5650992" y="235915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F9A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39" name="Text 32"/>
          <p:cNvSpPr txBox="1"/>
          <p:nvPr/>
        </p:nvSpPr>
        <p:spPr>
          <a:xfrm>
            <a:off x="6053328" y="2304288"/>
            <a:ext cx="16642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Консультант</a:t>
            </a:r>
            <a:endParaRPr lang="en-US" sz="1300" dirty="0"/>
          </a:p>
        </p:txBody>
      </p:sp>
      <p:sp>
        <p:nvSpPr>
          <p:cNvPr id="40" name="Text 33"/>
          <p:cNvSpPr txBox="1"/>
          <p:nvPr/>
        </p:nvSpPr>
        <p:spPr>
          <a:xfrm>
            <a:off x="5650992" y="2779776"/>
            <a:ext cx="1956816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ЗП от</a:t>
            </a:r>
            <a:endParaRPr lang="en-US" sz="1000" dirty="0"/>
          </a:p>
        </p:txBody>
      </p:sp>
      <p:sp>
        <p:nvSpPr>
          <p:cNvPr id="41" name="Text 34"/>
          <p:cNvSpPr txBox="1"/>
          <p:nvPr/>
        </p:nvSpPr>
        <p:spPr>
          <a:xfrm>
            <a:off x="5650992" y="2898648"/>
            <a:ext cx="195681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110 000 ₽</a:t>
            </a:r>
            <a:endParaRPr lang="en-US" sz="2400" dirty="0"/>
          </a:p>
        </p:txBody>
      </p:sp>
      <p:sp>
        <p:nvSpPr>
          <p:cNvPr id="42" name="Shape 35"/>
          <p:cNvSpPr/>
          <p:nvPr/>
        </p:nvSpPr>
        <p:spPr>
          <a:xfrm>
            <a:off x="8183880" y="1417320"/>
            <a:ext cx="3596335" cy="2487168"/>
          </a:xfrm>
          <a:prstGeom prst="roundRect">
            <a:avLst>
              <a:gd name="adj" fmla="val 4571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366760" y="1527048"/>
            <a:ext cx="323057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Условия</a:t>
            </a:r>
            <a:endParaRPr lang="en-US" sz="1500" dirty="0"/>
          </a:p>
        </p:txBody>
      </p:sp>
      <p:sp>
        <p:nvSpPr>
          <p:cNvPr id="44" name="Shape 37"/>
          <p:cNvSpPr/>
          <p:nvPr/>
        </p:nvSpPr>
        <p:spPr>
          <a:xfrm>
            <a:off x="8366760" y="200253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61858" y="2097634"/>
            <a:ext cx="175565" cy="175565"/>
          </a:xfrm>
          <a:prstGeom prst="rect">
            <a:avLst/>
          </a:prstGeom>
        </p:spPr>
      </p:pic>
      <p:sp>
        <p:nvSpPr>
          <p:cNvPr id="46" name="Text 38"/>
          <p:cNvSpPr txBox="1"/>
          <p:nvPr/>
        </p:nvSpPr>
        <p:spPr>
          <a:xfrm>
            <a:off x="8869680" y="1965960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Оплата</a:t>
            </a:r>
            <a:endParaRPr lang="en-US" sz="1200" dirty="0"/>
          </a:p>
        </p:txBody>
      </p:sp>
      <p:sp>
        <p:nvSpPr>
          <p:cNvPr id="47" name="Text 39"/>
          <p:cNvSpPr txBox="1"/>
          <p:nvPr/>
        </p:nvSpPr>
        <p:spPr>
          <a:xfrm>
            <a:off x="8869680" y="2148840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Конкурентный заработок и ежемесячное премирование</a:t>
            </a:r>
            <a:endParaRPr lang="en-US" sz="950" dirty="0"/>
          </a:p>
        </p:txBody>
      </p:sp>
      <p:sp>
        <p:nvSpPr>
          <p:cNvPr id="48" name="Shape 40"/>
          <p:cNvSpPr/>
          <p:nvPr/>
        </p:nvSpPr>
        <p:spPr>
          <a:xfrm>
            <a:off x="8366760" y="2487168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49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461858" y="2582266"/>
            <a:ext cx="175565" cy="175565"/>
          </a:xfrm>
          <a:prstGeom prst="rect">
            <a:avLst/>
          </a:prstGeom>
        </p:spPr>
      </p:pic>
      <p:sp>
        <p:nvSpPr>
          <p:cNvPr id="50" name="Text 41"/>
          <p:cNvSpPr txBox="1"/>
          <p:nvPr/>
        </p:nvSpPr>
        <p:spPr>
          <a:xfrm>
            <a:off x="8869680" y="2450592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Ресурсный день</a:t>
            </a:r>
            <a:endParaRPr lang="en-US" sz="1200" dirty="0"/>
          </a:p>
        </p:txBody>
      </p:sp>
      <p:sp>
        <p:nvSpPr>
          <p:cNvPr id="51" name="Text 42"/>
          <p:cNvSpPr txBox="1"/>
          <p:nvPr/>
        </p:nvSpPr>
        <p:spPr>
          <a:xfrm>
            <a:off x="8869680" y="2633472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Дополнительный оплачиваемый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выходной 1 раз в квартал</a:t>
            </a:r>
            <a:endParaRPr lang="en-US" sz="950" dirty="0"/>
          </a:p>
        </p:txBody>
      </p:sp>
      <p:sp>
        <p:nvSpPr>
          <p:cNvPr id="52" name="Shape 43"/>
          <p:cNvSpPr/>
          <p:nvPr/>
        </p:nvSpPr>
        <p:spPr>
          <a:xfrm>
            <a:off x="8366760" y="2971800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3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61858" y="3066898"/>
            <a:ext cx="175565" cy="175565"/>
          </a:xfrm>
          <a:prstGeom prst="rect">
            <a:avLst/>
          </a:prstGeom>
        </p:spPr>
      </p:pic>
      <p:sp>
        <p:nvSpPr>
          <p:cNvPr id="54" name="Text 44"/>
          <p:cNvSpPr txBox="1"/>
          <p:nvPr/>
        </p:nvSpPr>
        <p:spPr>
          <a:xfrm>
            <a:off x="8869680" y="2935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Конфиденциальность отклика</a:t>
            </a:r>
            <a:endParaRPr lang="en-US" sz="1200" dirty="0"/>
          </a:p>
        </p:txBody>
      </p:sp>
      <p:sp>
        <p:nvSpPr>
          <p:cNvPr id="55" name="Text 45"/>
          <p:cNvSpPr txBox="1"/>
          <p:nvPr/>
        </p:nvSpPr>
        <p:spPr>
          <a:xfrm>
            <a:off x="8869680" y="3118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Мы ценим вашу приватность</a:t>
            </a:r>
            <a:endParaRPr lang="en-US" sz="950" dirty="0"/>
          </a:p>
        </p:txBody>
      </p:sp>
      <p:sp>
        <p:nvSpPr>
          <p:cNvPr id="320" name="Section card"/>
          <p:cNvSpPr/>
          <p:nvPr/>
        </p:nvSpPr>
        <p:spPr>
          <a:xfrm>
            <a:off x="8183880" y="4014216"/>
            <a:ext cx="3596335" cy="64008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56" name="Shape 46"/>
          <p:cNvSpPr/>
          <p:nvPr/>
        </p:nvSpPr>
        <p:spPr>
          <a:xfrm>
            <a:off x="8366760" y="4151376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5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61858" y="4246474"/>
            <a:ext cx="175565" cy="175565"/>
          </a:xfrm>
          <a:prstGeom prst="rect">
            <a:avLst/>
          </a:prstGeom>
        </p:spPr>
      </p:pic>
      <p:sp>
        <p:nvSpPr>
          <p:cNvPr id="58" name="Text 47"/>
          <p:cNvSpPr txBox="1"/>
          <p:nvPr/>
        </p:nvSpPr>
        <p:spPr>
          <a:xfrm>
            <a:off x="8869680" y="4078224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Профессиональное развитие</a:t>
            </a:r>
            <a:endParaRPr lang="en-US" sz="1200" dirty="0"/>
          </a:p>
        </p:txBody>
      </p:sp>
      <p:sp>
        <p:nvSpPr>
          <p:cNvPr id="59" name="Text 48"/>
          <p:cNvSpPr txBox="1"/>
          <p:nvPr/>
        </p:nvSpPr>
        <p:spPr>
          <a:xfrm>
            <a:off x="8869680" y="4261104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Работа с интересными кейсами и участие в передовых проектах ФНС России</a:t>
            </a:r>
            <a:endParaRPr lang="en-US" sz="950" dirty="0"/>
          </a:p>
        </p:txBody>
      </p:sp>
      <p:sp>
        <p:nvSpPr>
          <p:cNvPr id="60" name="Shape 49"/>
          <p:cNvSpPr/>
          <p:nvPr/>
        </p:nvSpPr>
        <p:spPr>
          <a:xfrm>
            <a:off x="8366760" y="3438144"/>
            <a:ext cx="365760" cy="36576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1" name="Image 9" descr="preencoded.png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461858" y="3533242"/>
            <a:ext cx="175565" cy="175565"/>
          </a:xfrm>
          <a:prstGeom prst="rect">
            <a:avLst/>
          </a:prstGeom>
        </p:spPr>
      </p:pic>
      <p:sp>
        <p:nvSpPr>
          <p:cNvPr id="62" name="Text 50"/>
          <p:cNvSpPr txBox="1"/>
          <p:nvPr/>
        </p:nvSpPr>
        <p:spPr>
          <a:xfrm>
            <a:off x="8869680" y="3401568"/>
            <a:ext cx="2727655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Корпоративная культура</a:t>
            </a:r>
            <a:endParaRPr lang="en-US" sz="1200" dirty="0"/>
          </a:p>
        </p:txBody>
      </p:sp>
      <p:sp>
        <p:nvSpPr>
          <p:cNvPr id="63" name="Text 51"/>
          <p:cNvSpPr txBox="1"/>
          <p:nvPr/>
        </p:nvSpPr>
        <p:spPr>
          <a:xfrm>
            <a:off x="8869680" y="3584448"/>
            <a:ext cx="2727655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Уважение к экспертности, совместные активности</a:t>
            </a:r>
            <a:endParaRPr lang="en-US" sz="950" dirty="0"/>
          </a:p>
        </p:txBody>
      </p:sp>
      <p:sp>
        <p:nvSpPr>
          <p:cNvPr id="64" name="Shape 52"/>
          <p:cNvSpPr/>
          <p:nvPr/>
        </p:nvSpPr>
        <p:spPr>
          <a:xfrm>
            <a:off x="8183880" y="4754880"/>
            <a:ext cx="3596335" cy="1051560"/>
          </a:xfrm>
          <a:prstGeom prst="roundRect">
            <a:avLst>
              <a:gd name="adj" fmla="val 13913"/>
            </a:avLst>
          </a:prstGeom>
          <a:solidFill>
            <a:srgbClr val="10285F"/>
          </a:solidFill>
          <a:ln w="9525">
            <a:solidFill>
              <a:srgbClr val="2B4B93"/>
            </a:solidFill>
            <a:prstDash val="solid"/>
          </a:ln>
        </p:spPr>
      </p:sp>
      <p:sp>
        <p:nvSpPr>
          <p:cNvPr id="65" name="Shape 53"/>
          <p:cNvSpPr/>
          <p:nvPr/>
        </p:nvSpPr>
        <p:spPr>
          <a:xfrm>
            <a:off x="8366760" y="4882896"/>
            <a:ext cx="411480" cy="411480"/>
          </a:xfrm>
          <a:prstGeom prst="ellipse">
            <a:avLst/>
          </a:prstGeom>
          <a:solidFill>
            <a:srgbClr val="1B3C86"/>
          </a:solidFill>
          <a:ln w="12700">
            <a:solidFill>
              <a:srgbClr val="1B3C86"/>
            </a:solidFill>
            <a:prstDash val="solid"/>
          </a:ln>
        </p:spPr>
      </p:sp>
      <p:pic>
        <p:nvPicPr>
          <p:cNvPr id="66" name="Image 10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8473745" y="4989881"/>
            <a:ext cx="197510" cy="197510"/>
          </a:xfrm>
          <a:prstGeom prst="rect">
            <a:avLst/>
          </a:prstGeom>
        </p:spPr>
      </p:pic>
      <p:sp>
        <p:nvSpPr>
          <p:cNvPr id="67" name="Text 54"/>
          <p:cNvSpPr txBox="1"/>
          <p:nvPr/>
        </p:nvSpPr>
        <p:spPr>
          <a:xfrm>
            <a:off x="8915400" y="4846320"/>
            <a:ext cx="27276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Удобное расположение</a:t>
            </a:r>
            <a:endParaRPr lang="en-US" sz="120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в центре столицы</a:t>
            </a:r>
            <a:endParaRPr lang="en-US" sz="1200" dirty="0"/>
          </a:p>
        </p:txBody>
      </p:sp>
      <p:sp>
        <p:nvSpPr>
          <p:cNvPr id="68" name="Text 55"/>
          <p:cNvSpPr txBox="1"/>
          <p:nvPr/>
        </p:nvSpPr>
        <p:spPr>
          <a:xfrm>
            <a:off x="8915400" y="5257800"/>
            <a:ext cx="272765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(современный офис в центре Москвы класса А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4D2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 мин. пешком от м. Новослободская, Долгоруковская 36с1)</a:t>
            </a:r>
            <a:endParaRPr lang="en-US" sz="950" dirty="0"/>
          </a:p>
        </p:txBody>
      </p:sp>
      <p:pic>
        <p:nvPicPr>
          <p:cNvPr id="69" name="Image 11" descr="preencoded.png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411480" y="5943600"/>
            <a:ext cx="11368735" cy="594360"/>
          </a:xfrm>
          <a:prstGeom prst="rect">
            <a:avLst/>
          </a:prstGeom>
        </p:spPr>
      </p:pic>
      <p:sp>
        <p:nvSpPr>
          <p:cNvPr id="70" name="Shape 56"/>
          <p:cNvSpPr/>
          <p:nvPr/>
        </p:nvSpPr>
        <p:spPr>
          <a:xfrm>
            <a:off x="4242816" y="6025896"/>
            <a:ext cx="429768" cy="429768"/>
          </a:xfrm>
          <a:prstGeom prst="ellipse">
            <a:avLst/>
          </a:prstGeom>
          <a:solidFill>
            <a:srgbClr val="0A1B45"/>
          </a:solidFill>
          <a:ln w="9525">
            <a:solidFill>
              <a:srgbClr val="0A1B45"/>
            </a:solidFill>
            <a:prstDash val="solid"/>
          </a:ln>
        </p:spPr>
      </p:sp>
      <p:pic>
        <p:nvPicPr>
          <p:cNvPr id="71" name="Image 12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4343400" y="6126480"/>
            <a:ext cx="228600" cy="228600"/>
          </a:xfrm>
          <a:prstGeom prst="rect">
            <a:avLst/>
          </a:prstGeom>
        </p:spPr>
      </p:pic>
      <p:sp>
        <p:nvSpPr>
          <p:cNvPr id="72" name="Text 57"/>
          <p:cNvSpPr txBox="1"/>
          <p:nvPr/>
        </p:nvSpPr>
        <p:spPr>
          <a:xfrm>
            <a:off x="4882896" y="5943600"/>
            <a:ext cx="35661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ru-RU" sz="2400" b="1" dirty="0">
                <a:solidFill>
                  <a:srgbClr val="0A1B4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Компенсация за жилье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Вакансии МИУДОЛ — контрольный долг</dc:title>
  <dc:subject>PptxGenJS Presentation</dc:subject>
  <dc:creator>PptxGenJS</dc:creator>
  <cp:lastModifiedBy>PptxGenJS</cp:lastModifiedBy>
  <cp:revision>1</cp:revision>
  <dcterms:created xsi:type="dcterms:W3CDTF">2026-10-01T14:09:42Z</dcterms:created>
  <dcterms:modified xsi:type="dcterms:W3CDTF">2026-10-01T14:09:42Z</dcterms:modified>
</cp:coreProperties>
</file>